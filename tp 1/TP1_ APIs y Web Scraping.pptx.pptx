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9"/>
    </p:embeddedFont>
    <p:embeddedFont>
      <p:font typeface="Merriweather Bold" charset="1" panose="00000800000000000000"/>
      <p:regular r:id="rId20"/>
    </p:embeddedFont>
    <p:embeddedFont>
      <p:font typeface="DM Sans" charset="1" panose="00000000000000000000"/>
      <p:regular r:id="rId21"/>
    </p:embeddedFont>
    <p:embeddedFont>
      <p:font typeface="DM Sans Italic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07844" y="6675168"/>
            <a:ext cx="7072312" cy="2577332"/>
            <a:chOff x="0" y="0"/>
            <a:chExt cx="9429750" cy="3436442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9429750" cy="3436493"/>
            </a:xfrm>
            <a:custGeom>
              <a:avLst/>
              <a:gdLst/>
              <a:ahLst/>
              <a:cxnLst/>
              <a:rect r="r" b="b" t="t" l="l"/>
              <a:pathLst>
                <a:path h="3436493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3436493"/>
                  </a:lnTo>
                  <a:lnTo>
                    <a:pt x="0" y="3436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3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557838" y="1158326"/>
            <a:ext cx="71723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2250">
                <a:solidFill>
                  <a:srgbClr val="005088"/>
                </a:solidFill>
                <a:latin typeface="DM Sans Bold"/>
                <a:ea typeface="DM Sans Bold"/>
                <a:cs typeface="DM Sans Bold"/>
                <a:sym typeface="DM Sans Bold"/>
              </a:rPr>
              <a:t>UBA | BIG DATA &amp; MACHINE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83355" y="2053676"/>
            <a:ext cx="1032129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TP1: Análisis SNEEP y</a:t>
            </a:r>
          </a:p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Web Scraping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07844" y="7437168"/>
            <a:ext cx="7072312" cy="729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b="true" sz="2700">
                <a:solidFill>
                  <a:srgbClr val="334155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Integrantes:</a:t>
            </a:r>
            <a:r>
              <a:rPr lang="en-US" sz="27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Juan Bonilla | Aroon Vargas Villa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3407569"/>
            <a:ext cx="7858125" cy="4957762"/>
            <a:chOff x="0" y="0"/>
            <a:chExt cx="10477500" cy="66103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6610350"/>
            </a:xfrm>
            <a:custGeom>
              <a:avLst/>
              <a:gdLst/>
              <a:ahLst/>
              <a:cxnLst/>
              <a:rect r="r" b="b" t="t" l="l"/>
              <a:pathLst>
                <a:path h="661035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6610350"/>
                  </a:lnTo>
                  <a:lnTo>
                    <a:pt x="0" y="6610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88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3531394"/>
            <a:ext cx="7858125" cy="212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Analizamos las series temporales del Ministerio de Justicia provistas por </a:t>
            </a:r>
            <a:r>
              <a:rPr lang="en-US" b="true" sz="2250">
                <a:solidFill>
                  <a:srgbClr val="005088"/>
                </a:solidFill>
                <a:latin typeface="DM Sans Bold"/>
                <a:ea typeface="DM Sans Bold"/>
                <a:cs typeface="DM Sans Bold"/>
                <a:sym typeface="DM Sans Bold"/>
              </a:rPr>
              <a:t>apis.datos.gob.ar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correspondientes al Sistema Nacional de Estadísticas sobre Ejecución de la Pena.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5645944"/>
            <a:ext cx="78581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Variables seleccionadas: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86975" y="3921919"/>
            <a:ext cx="717089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47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Idea Central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86975" y="4660106"/>
            <a:ext cx="6829425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¿Qué proporción de encarcelados no tiene condena? Una alta brecha evidencia un uso extendido de la </a:t>
            </a:r>
            <a:r>
              <a:rPr lang="en-US" b="true" sz="2250">
                <a:solidFill>
                  <a:srgbClr val="005088"/>
                </a:solidFill>
                <a:latin typeface="DM Sans Bold"/>
                <a:ea typeface="DM Sans Bold"/>
                <a:cs typeface="DM Sans Bold"/>
                <a:sym typeface="DM Sans Bold"/>
              </a:rPr>
              <a:t>prisión preventiva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y demoras estructurales en la justicia.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8738" y="6541294"/>
            <a:ext cx="1000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5425" y="6388894"/>
            <a:ext cx="72199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334155"/>
                </a:solidFill>
                <a:latin typeface="DM Sans Bold"/>
                <a:ea typeface="DM Sans Bold"/>
                <a:cs typeface="DM Sans Bold"/>
                <a:sym typeface="DM Sans Bold"/>
              </a:rPr>
              <a:t>sneep_p_arg: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Población penitenciaria total.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738" y="7212806"/>
            <a:ext cx="1000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5425" y="7060406"/>
            <a:ext cx="721995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334155"/>
                </a:solidFill>
                <a:latin typeface="DM Sans Bold"/>
                <a:ea typeface="DM Sans Bold"/>
                <a:cs typeface="DM Sans Bold"/>
                <a:sym typeface="DM Sans Bold"/>
              </a:rPr>
              <a:t>sneep_pto_arg: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Personas en situación de procesadas (sin condena firme).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250" y="857250"/>
            <a:ext cx="17402175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Parte A: Contexto SNEEP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7250" y="1743075"/>
            <a:ext cx="16573500" cy="28575"/>
            <a:chOff x="0" y="0"/>
            <a:chExt cx="22098000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566074"/>
            <a:ext cx="16573500" cy="2868882"/>
            <a:chOff x="0" y="0"/>
            <a:chExt cx="22098000" cy="382517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3825240"/>
            </a:xfrm>
            <a:custGeom>
              <a:avLst/>
              <a:gdLst/>
              <a:ahLst/>
              <a:cxnLst/>
              <a:rect r="r" b="b" t="t" l="l"/>
              <a:pathLst>
                <a:path h="382524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25240"/>
                  </a:lnTo>
                  <a:lnTo>
                    <a:pt x="0" y="3825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59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6844532"/>
            <a:ext cx="165735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 i="true">
                <a:solidFill>
                  <a:srgbClr val="64748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La población total muestra un crecimiento acelerado, mientras que la variabilidad en procesados sugiere desajustes en la celeridad judicial.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57250" y="3566070"/>
          <a:ext cx="16516350" cy="2857500"/>
        </p:xfrm>
        <a:graphic>
          <a:graphicData uri="http://schemas.openxmlformats.org/drawingml/2006/table">
            <a:tbl>
              <a:tblPr/>
              <a:tblGrid>
                <a:gridCol w="3913734"/>
                <a:gridCol w="2245540"/>
                <a:gridCol w="2952158"/>
                <a:gridCol w="2402554"/>
                <a:gridCol w="2520323"/>
                <a:gridCol w="2482041"/>
              </a:tblGrid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erriweather Bold"/>
                          <a:ea typeface="Merriweather Bold"/>
                          <a:cs typeface="Merriweather Bold"/>
                          <a:sym typeface="Merriweather Bold"/>
                        </a:rPr>
                        <a:t>Variable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erriweather Bold"/>
                          <a:ea typeface="Merriweather Bold"/>
                          <a:cs typeface="Merriweather Bold"/>
                          <a:sym typeface="Merriweather Bold"/>
                        </a:rPr>
                        <a:t>Media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erriweather Bold"/>
                          <a:ea typeface="Merriweather Bold"/>
                          <a:cs typeface="Merriweather Bold"/>
                          <a:sym typeface="Merriweather Bold"/>
                        </a:rPr>
                        <a:t>Desvío Std.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erriweather Bold"/>
                          <a:ea typeface="Merriweather Bold"/>
                          <a:cs typeface="Merriweather Bold"/>
                          <a:sym typeface="Merriweather Bold"/>
                        </a:rPr>
                        <a:t>Mínimo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erriweather Bold"/>
                          <a:ea typeface="Merriweather Bold"/>
                          <a:cs typeface="Merriweather Bold"/>
                          <a:sym typeface="Merriweather Bold"/>
                        </a:rPr>
                        <a:t>Mediana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erriweather Bold"/>
                          <a:ea typeface="Merriweather Bold"/>
                          <a:cs typeface="Merriweather Bold"/>
                          <a:sym typeface="Merriweather Bold"/>
                        </a:rPr>
                        <a:t>Máximo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Población Total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72.573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24.102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42.687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64.109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120.700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Procesados/as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32.427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5.479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24.232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30.938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43.752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857250" y="857250"/>
            <a:ext cx="17402175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Estadística Descriptiva SNEEP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1743075"/>
            <a:ext cx="16573500" cy="28575"/>
            <a:chOff x="0" y="0"/>
            <a:chExt cx="22098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2978944"/>
            <a:ext cx="7858125" cy="5815012"/>
            <a:chOff x="0" y="0"/>
            <a:chExt cx="10477500" cy="77533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7753350"/>
            </a:xfrm>
            <a:custGeom>
              <a:avLst/>
              <a:gdLst/>
              <a:ahLst/>
              <a:cxnLst/>
              <a:rect r="r" b="b" t="t" l="l"/>
              <a:pathLst>
                <a:path h="775335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753350"/>
                  </a:lnTo>
                  <a:lnTo>
                    <a:pt x="0" y="7753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4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72625" y="2978944"/>
            <a:ext cx="7858125" cy="5815012"/>
            <a:chOff x="0" y="0"/>
            <a:chExt cx="10477500" cy="77533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77500" cy="7753350"/>
            </a:xfrm>
            <a:custGeom>
              <a:avLst/>
              <a:gdLst/>
              <a:ahLst/>
              <a:cxnLst/>
              <a:rect r="r" b="b" t="t" l="l"/>
              <a:pathLst>
                <a:path h="775335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753350"/>
                  </a:lnTo>
                  <a:lnTo>
                    <a:pt x="0" y="7753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4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71600" y="4612481"/>
            <a:ext cx="237038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Estilo Pyplot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600" y="5431631"/>
            <a:ext cx="6829425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Enfoque inmediato y secuencial. Se opera sobre la figura activa sin referencia explícita a objetos.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1600" y="6917531"/>
            <a:ext cx="68294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Limitado para diseños técnicos avanzados.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6975" y="4612481"/>
            <a:ext cx="7170896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Orientado a Objetos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86975" y="5431631"/>
            <a:ext cx="6829425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Referencia a </a:t>
            </a:r>
            <a:r>
              <a:rPr lang="en-US" b="true" sz="2250">
                <a:solidFill>
                  <a:srgbClr val="334155"/>
                </a:solidFill>
                <a:latin typeface="DM Sans Bold"/>
                <a:ea typeface="DM Sans Bold"/>
                <a:cs typeface="DM Sans Bold"/>
                <a:sym typeface="DM Sans Bold"/>
              </a:rPr>
              <a:t>fig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b="true" sz="2250">
                <a:solidFill>
                  <a:srgbClr val="334155"/>
                </a:solidFill>
                <a:latin typeface="DM Sans Bold"/>
                <a:ea typeface="DM Sans Bold"/>
                <a:cs typeface="DM Sans Bold"/>
                <a:sym typeface="DM Sans Bold"/>
              </a:rPr>
              <a:t>ax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Basado en los principios de </a:t>
            </a:r>
            <a:r>
              <a:rPr lang="en-US" sz="2250" i="true">
                <a:solidFill>
                  <a:srgbClr val="334155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Schwabish (2014)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6975" y="6917531"/>
            <a:ext cx="6829425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Permite sombreados de brecha (gap) y anotaciones técnicas integradas.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71600" y="3579019"/>
            <a:ext cx="557212" cy="642938"/>
            <a:chOff x="0" y="0"/>
            <a:chExt cx="742950" cy="8572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42950" cy="857250"/>
            </a:xfrm>
            <a:custGeom>
              <a:avLst/>
              <a:gdLst/>
              <a:ahLst/>
              <a:cxnLst/>
              <a:rect r="r" b="b" t="t" l="l"/>
              <a:pathLst>
                <a:path h="8572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22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86975" y="3579019"/>
            <a:ext cx="728662" cy="642938"/>
            <a:chOff x="0" y="0"/>
            <a:chExt cx="971550" cy="8572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971550" cy="857250"/>
            </a:xfrm>
            <a:custGeom>
              <a:avLst/>
              <a:gdLst/>
              <a:ahLst/>
              <a:cxnLst/>
              <a:rect r="r" b="b" t="t" l="l"/>
              <a:pathLst>
                <a:path h="857250" w="971550">
                  <a:moveTo>
                    <a:pt x="0" y="0"/>
                  </a:moveTo>
                  <a:lnTo>
                    <a:pt x="971550" y="0"/>
                  </a:lnTo>
                  <a:lnTo>
                    <a:pt x="97155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22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57250" y="857250"/>
            <a:ext cx="17402175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Metodologías de Visualización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57250" y="1743075"/>
            <a:ext cx="16573500" cy="28575"/>
            <a:chOff x="0" y="0"/>
            <a:chExt cx="22098000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5978" y="830088"/>
            <a:ext cx="12155460" cy="6837446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84" t="-2105" r="0" b="-210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-93095" y="8490375"/>
            <a:ext cx="18288000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Ambas series presentan una tendencia creciente. Mientras la población total aumenta de forma sostenida, la de procesados muestra mayor variabilidad, reflejando posibles ineficiencias o cambios en el sistema judicial.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0785" y="174942"/>
            <a:ext cx="237038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Estilo Pyplot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05440" y="824494"/>
            <a:ext cx="12568429" cy="7291067"/>
          </a:xfrm>
          <a:custGeom>
            <a:avLst/>
            <a:gdLst/>
            <a:ahLst/>
            <a:cxnLst/>
            <a:rect r="r" b="b" t="t" l="l"/>
            <a:pathLst>
              <a:path h="7291067" w="12568429">
                <a:moveTo>
                  <a:pt x="0" y="0"/>
                </a:moveTo>
                <a:lnTo>
                  <a:pt x="12568428" y="0"/>
                </a:lnTo>
                <a:lnTo>
                  <a:pt x="12568428" y="7291067"/>
                </a:lnTo>
                <a:lnTo>
                  <a:pt x="0" y="7291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09" t="0" r="-93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8025" y="8384857"/>
            <a:ext cx="16230600" cy="1584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sombreado y las anotaciones facilitan la visualización directa de la brecha entre población total y procesados (personas con condena). Esto simplifica la interpretación de datos que, bajo el módulo estándar de pyplot, resultaría menos intuitiva o inaccesible para los fines buscados.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1619" y="190458"/>
            <a:ext cx="7170896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Orientado a Objetos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72488" y="3481387"/>
            <a:ext cx="13430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2250">
                <a:solidFill>
                  <a:srgbClr val="11CAA0"/>
                </a:solidFill>
                <a:latin typeface="DM Sans Bold"/>
                <a:ea typeface="DM Sans Bold"/>
                <a:cs typeface="DM Sans Bold"/>
                <a:sym typeface="DM Sans Bold"/>
              </a:rPr>
              <a:t>PARTE 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36119" y="4376737"/>
            <a:ext cx="601575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Web Scraping de Noticias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86750" y="5386388"/>
            <a:ext cx="1714500" cy="85725"/>
            <a:chOff x="0" y="0"/>
            <a:chExt cx="2286000" cy="114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1CAA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6322219" y="6024563"/>
            <a:ext cx="564356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 Nación (AR) vs. The New York Times (US)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2907506"/>
            <a:ext cx="7858125" cy="4786312"/>
            <a:chOff x="0" y="0"/>
            <a:chExt cx="10477500" cy="6381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6381750"/>
            </a:xfrm>
            <a:custGeom>
              <a:avLst/>
              <a:gdLst/>
              <a:ahLst/>
              <a:cxnLst/>
              <a:rect r="r" b="b" t="t" l="l"/>
              <a:pathLst>
                <a:path h="638175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6381750"/>
                  </a:lnTo>
                  <a:lnTo>
                    <a:pt x="0" y="6381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9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72625" y="2907506"/>
            <a:ext cx="7858125" cy="4786312"/>
            <a:chOff x="0" y="0"/>
            <a:chExt cx="10477500" cy="6381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77500" cy="6381750"/>
            </a:xfrm>
            <a:custGeom>
              <a:avLst/>
              <a:gdLst/>
              <a:ahLst/>
              <a:cxnLst/>
              <a:rect r="r" b="b" t="t" l="l"/>
              <a:pathLst>
                <a:path h="638175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6381750"/>
                  </a:lnTo>
                  <a:lnTo>
                    <a:pt x="0" y="6381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9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586288" y="7960519"/>
            <a:ext cx="932973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Objetivo: DataFrame de 4 columnas exportado a Excel (.xlsx) funcional.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371975" y="8122444"/>
            <a:ext cx="57150" cy="457200"/>
            <a:chOff x="0" y="0"/>
            <a:chExt cx="762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1CAA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71600" y="4541044"/>
            <a:ext cx="7170896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La Nación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1600" y="5360194"/>
            <a:ext cx="6829425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Estructura </a:t>
            </a:r>
            <a:r>
              <a:rPr lang="en-US" b="true" sz="2250">
                <a:solidFill>
                  <a:srgbClr val="005088"/>
                </a:solidFill>
                <a:latin typeface="DM Sans Bold"/>
                <a:ea typeface="DM Sans Bold"/>
                <a:cs typeface="DM Sans Bold"/>
                <a:sym typeface="DM Sans Bold"/>
              </a:rPr>
              <a:t>"directa"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Clases de CSS constantes que facilitan la identificación de titulares principales.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6975" y="4541044"/>
            <a:ext cx="7170896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NY Times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86975" y="5360194"/>
            <a:ext cx="6829425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Código más </a:t>
            </a:r>
            <a:r>
              <a:rPr lang="en-US" b="true" sz="2250">
                <a:solidFill>
                  <a:srgbClr val="005088"/>
                </a:solidFill>
                <a:latin typeface="DM Sans Bold"/>
                <a:ea typeface="DM Sans Bold"/>
                <a:cs typeface="DM Sans Bold"/>
                <a:sym typeface="DM Sans Bold"/>
              </a:rPr>
              <a:t>"enredado"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Etiquetas dinámicas y nombres complejos que requirieron filtros de longitud para validar noticias reales.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1600" y="3507581"/>
            <a:ext cx="485775" cy="642938"/>
            <a:chOff x="0" y="0"/>
            <a:chExt cx="647700" cy="8572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647700" cy="857250"/>
            </a:xfrm>
            <a:custGeom>
              <a:avLst/>
              <a:gdLst/>
              <a:ahLst/>
              <a:cxnLst/>
              <a:rect r="r" b="b" t="t" l="l"/>
              <a:pathLst>
                <a:path h="85725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22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86975" y="3507581"/>
            <a:ext cx="728662" cy="642938"/>
            <a:chOff x="0" y="0"/>
            <a:chExt cx="971550" cy="8572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971550" cy="857250"/>
            </a:xfrm>
            <a:custGeom>
              <a:avLst/>
              <a:gdLst/>
              <a:ahLst/>
              <a:cxnLst/>
              <a:rect r="r" b="b" t="t" l="l"/>
              <a:pathLst>
                <a:path h="857250" w="971550">
                  <a:moveTo>
                    <a:pt x="0" y="0"/>
                  </a:moveTo>
                  <a:lnTo>
                    <a:pt x="971550" y="0"/>
                  </a:lnTo>
                  <a:lnTo>
                    <a:pt x="97155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22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57250" y="857250"/>
            <a:ext cx="17402175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Estrategia de Raspado Web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7250" y="1743075"/>
            <a:ext cx="16573500" cy="28575"/>
            <a:chOff x="0" y="0"/>
            <a:chExt cx="22098000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4029075"/>
            <a:ext cx="7858125" cy="3714750"/>
            <a:chOff x="0" y="0"/>
            <a:chExt cx="10477500" cy="4953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4953000"/>
                  </a:lnTo>
                  <a:lnTo>
                    <a:pt x="0" y="495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72625" y="4029075"/>
            <a:ext cx="7858125" cy="3714750"/>
            <a:chOff x="0" y="0"/>
            <a:chExt cx="10477500" cy="4953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775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4953000"/>
                  </a:lnTo>
                  <a:lnTo>
                    <a:pt x="0" y="495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71600" y="4576763"/>
            <a:ext cx="7170896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solidFill>
                  <a:srgbClr val="DC26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Links "Mochos"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600" y="5395913"/>
            <a:ext cx="6829425" cy="154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Muchos enlaces venían sin dominio (ej. /nota...). Lo resolvimos concatenando automáticamente el dominio base si el link iniciaba con "/".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86975" y="4576763"/>
            <a:ext cx="7170896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>
                <a:solidFill>
                  <a:srgbClr val="0D94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Largo Diferente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6975" y="5395913"/>
            <a:ext cx="6829425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 disparidad de noticias entre diarios generaba errores de longitud. Usamos las capacidades de </a:t>
            </a:r>
            <a:r>
              <a:rPr lang="en-US" b="true" sz="2250">
                <a:solidFill>
                  <a:srgbClr val="005088"/>
                </a:solidFill>
                <a:latin typeface="DM Sans Bold"/>
                <a:ea typeface="DM Sans Bold"/>
                <a:cs typeface="DM Sans Bold"/>
                <a:sym typeface="DM Sans Bold"/>
              </a:rPr>
              <a:t>Pandas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para emparejar y nivelar las listas.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857250"/>
            <a:ext cx="17402175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05088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Desafíos de Programación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57250" y="1743075"/>
            <a:ext cx="16573500" cy="28575"/>
            <a:chOff x="0" y="0"/>
            <a:chExt cx="2209800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5088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347338" y="3738767"/>
            <a:ext cx="5593323" cy="140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b="true" sz="9217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GRACIAS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86538" y="7914751"/>
            <a:ext cx="51149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Juan Bonilla | Aroon Vargas Villa - 2026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DAHFfCT1_Nc</dc:identifier>
  <dcterms:modified xsi:type="dcterms:W3CDTF">2011-08-01T06:04:30Z</dcterms:modified>
  <cp:revision>1</cp:revision>
  <dc:title>TP1_ APIs y Web Scraping.pptx</dc:title>
</cp:coreProperties>
</file>